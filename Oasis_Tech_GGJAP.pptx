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Jobs &amp; Projects Growth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مناصب الشغل</c:v>
                </c:pt>
              </c:strCache>
            </c:strRef>
          </c:tx>
          <c:spPr>
            <a:solidFill>
              <a:srgbClr val="1A6B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D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2024-2025</c:v>
                  </c:pt>
                  <c:pt idx="1">
                    <c:v>2026 (GGJAP)</c:v>
                  </c:pt>
                  <c:pt idx="2">
                    <c:v>2027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35</c:v>
                </c:pt>
                <c:pt idx="2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المشاريع المحتضنة</c:v>
                </c:pt>
              </c:strCache>
            </c:strRef>
          </c:tx>
          <c:spPr>
            <a:solidFill>
              <a:srgbClr val="C892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D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2024-2025</c:v>
                  </c:pt>
                  <c:pt idx="1">
                    <c:v>2026 (GGJAP)</c:v>
                  </c:pt>
                  <c:pt idx="2">
                    <c:v>2027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25</c:v>
                </c:pt>
                <c:pt idx="2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D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D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1A6B3C">
              <a:alpha val="20000"/>
            </a:srgbClr>
          </a:solidFill>
          <a:ln w="12700">
            <a:solidFill>
              <a:srgbClr val="1A6B3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-640080"/>
            <a:ext cx="2286000" cy="2286000"/>
          </a:xfrm>
          <a:prstGeom prst="ellipse">
            <a:avLst/>
          </a:prstGeom>
          <a:solidFill>
            <a:srgbClr val="C8922A">
              <a:alpha val="15000"/>
            </a:srgbClr>
          </a:solidFill>
          <a:ln w="12700">
            <a:solidFill>
              <a:srgbClr val="C8922A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Tech Incubator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3200400" cy="36576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60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حاضنة الأعمال المعتمدة | الجنوب الكبير الجزائري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ملف الترشح لبرنامج النمو الأخضر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وتسريع فرص العمل — GGJAP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3611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E8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تيميمون  •  أدرار  •  بني عباس  •  المنيعة  •  البيض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4592" y="4663440"/>
            <a:ext cx="8979408" cy="480060"/>
          </a:xfrm>
          <a:prstGeom prst="rect">
            <a:avLst/>
          </a:prstGeom>
          <a:solidFill>
            <a:srgbClr val="1A6B3C">
              <a:alpha val="80000"/>
            </a:srgbClr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690872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عبد الحميد صغيرا — المؤسس والمدير التنفيذي  |  2026–2027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رسالة إبداء الاهتمام الرسمية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الموجهة إلى الوزارة وبرنامج الأمم المتحدة الإنمائي — UNDP Algeria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1097280"/>
          </a:xfrm>
          <a:prstGeom prst="rect">
            <a:avLst/>
          </a:prstGeom>
          <a:solidFill>
            <a:srgbClr val="1A6B3C">
              <a:alpha val="12000"/>
            </a:srgbClr>
          </a:solidFill>
          <a:ln w="1905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10972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6128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السيد وزير اقتصاد المعرفة والمؤسسات الناشئة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7099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مديرية منظومة الحاضنات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14800" cy="1097280"/>
          </a:xfrm>
          <a:prstGeom prst="rect">
            <a:avLst/>
          </a:prstGeom>
          <a:solidFill>
            <a:srgbClr val="C8922A">
              <a:alpha val="12000"/>
            </a:srgbClr>
          </a:solidFill>
          <a:ln w="1905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97280"/>
            <a:ext cx="54864" cy="10972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16128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السيدة الممثلة المقيمة لـ UNDP الجزائر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7099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Natasha van Rijn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395728"/>
            <a:ext cx="256032" cy="256032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377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يتشرف طاقم إدارة حاضنة Oasis Tech Incubator بتقديم ملف الترشح الرسمي للانخراط في برنامج GGJAP المنفَّذ بالشراكة بين الوزارة، وبرنامج الأمم المتحدة الإنمائي، وبتمويل من المملكة الدنماركية.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172968"/>
            <a:ext cx="256032" cy="256032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154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نهدف إلى الحصول على الاعتماد الإقليمي الرسمي لتغطية خمس ولايات في الجنوب الكبير: تيميمون، أدرار، بني عباس، المنيعة، والبيض.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950208"/>
            <a:ext cx="256032" cy="256032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931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تلتزم الحاضنة بوضع بنيتها التحتية اللوجستية وشبكة مستشاريها ومخبرها التقني (AgriTech FabLab) بالكامل تحت تصرف البرنامج لاستقطاب ومرافقة الـ 800 مؤسسة خضراء المستهدفة.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736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عبد الحميد صغيرا — المؤسس والمدير التنفيذي | Oasis Tech Incubator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الرؤية والرسالة الاستراتيجية — أفق 2027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023360" cy="7315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64008" cy="34747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الرؤية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3566160" cy="27432"/>
          </a:xfrm>
          <a:prstGeom prst="rect">
            <a:avLst/>
          </a:prstGeom>
          <a:solidFill>
            <a:srgbClr val="1A6B3C">
              <a:alpha val="40000"/>
            </a:srgbClr>
          </a:solidFill>
          <a:ln w="12700">
            <a:solidFill>
              <a:srgbClr val="1A6B3C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7373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التموضع كمرجع إقليمي أول وشريك تنفيذي رائد لهيئات الدعم الوطنية والدولية في مجال هندسة وتوطين ريادة الأعمال الخضراء والفلاحة الذكية والابتكار المستدام في البيئات الصحراوية والجافة بحلول عام 2027.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0233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4023360" cy="7315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097280"/>
            <a:ext cx="64008" cy="3474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الرسالة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37760" y="1664208"/>
            <a:ext cx="3566160" cy="27432"/>
          </a:xfrm>
          <a:prstGeom prst="rect">
            <a:avLst/>
          </a:prstGeom>
          <a:solidFill>
            <a:srgbClr val="C8922A">
              <a:alpha val="40000"/>
            </a:srgbClr>
          </a:solidFill>
          <a:ln w="12700">
            <a:solidFill>
              <a:srgbClr val="C8922A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7373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تمكين المواهب والطاقات المحلية بالجنوب عبر توفير مسارات احتضان قطاعية مهيكلة، تدمج التوجيه التقني المتقدم وآليات الاقتصاد الدائري والربط بشبكات التمويل المستدام، لتحويل التحديات البيئية إلى رافعات نمو اقتصادي محلي.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736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Tech Incubator  |  التموقع والرؤية الاستراتيجية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محاور الأنشطة المتخصصة — برنامج المرافقة (6 أشهر)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114800" cy="1691640"/>
          </a:xfrm>
          <a:prstGeom prst="rect">
            <a:avLst/>
          </a:prstGeom>
          <a:solidFill>
            <a:srgbClr val="E8F4EC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1280160"/>
            <a:ext cx="411480" cy="41148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3075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1430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 &amp; Cleantech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5270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الفلاحة الذكية الصحراوية والابتكار الأخضر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3840480" cy="18288"/>
          </a:xfrm>
          <a:prstGeom prst="rect">
            <a:avLst/>
          </a:prstGeom>
          <a:solidFill>
            <a:srgbClr val="1A6B3C">
              <a:alpha val="30000"/>
            </a:srgbClr>
          </a:solidFill>
          <a:ln w="12700">
            <a:solidFill>
              <a:srgbClr val="1A6B3C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928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ري ذكي، طاقة شمسية، تسميد عضوي، نسخ Canvas للإنتاج الصحراوي لخفض البصمة الكربونية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051560"/>
            <a:ext cx="4114800" cy="1691640"/>
          </a:xfrm>
          <a:prstGeom prst="rect">
            <a:avLst/>
          </a:prstGeom>
          <a:solidFill>
            <a:srgbClr val="E8F4EC"/>
          </a:solidFill>
          <a:ln w="1270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10328" y="1280160"/>
            <a:ext cx="411480" cy="41148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13075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11430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السياحة المستدامة والصناعات التقليدية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40680" y="15270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Artisan-Entrepreneur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1828800"/>
            <a:ext cx="3840480" cy="18288"/>
          </a:xfrm>
          <a:prstGeom prst="rect">
            <a:avLst/>
          </a:prstGeom>
          <a:solidFill>
            <a:srgbClr val="C8922A">
              <a:alpha val="30000"/>
            </a:srgbClr>
          </a:solidFill>
          <a:ln w="12700">
            <a:solidFill>
              <a:srgbClr val="C8922A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8928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تغليف حيوي من مخلفات النخيل، مسارات سياحية تضامنية، تثمين التراث المادي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834640"/>
            <a:ext cx="4114800" cy="1691640"/>
          </a:xfrm>
          <a:prstGeom prst="rect">
            <a:avLst/>
          </a:prstGeom>
          <a:solidFill>
            <a:srgbClr val="E8F4EC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" y="3063240"/>
            <a:ext cx="411480" cy="41148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309067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29260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الصحة والتعليم والابتكار الاجتماعي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3101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خدمات اجتماعية ريادية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3840480" cy="18288"/>
          </a:xfrm>
          <a:prstGeom prst="rect">
            <a:avLst/>
          </a:prstGeom>
          <a:solidFill>
            <a:srgbClr val="1A6B3C">
              <a:alpha val="30000"/>
            </a:srgbClr>
          </a:solidFill>
          <a:ln w="12700">
            <a:solidFill>
              <a:srgbClr val="1A6B3C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67588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عيادات مصغرة في المناطق المعزولة، Telemedicine، مبادرات تعليمية ذات أثر مجتمعي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834640"/>
            <a:ext cx="4114800" cy="1691640"/>
          </a:xfrm>
          <a:prstGeom prst="rect">
            <a:avLst/>
          </a:prstGeom>
          <a:solidFill>
            <a:srgbClr val="E8F4EC"/>
          </a:solidFill>
          <a:ln w="1270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10328" y="3063240"/>
            <a:ext cx="411480" cy="41148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309067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40680" y="29260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التحول الرقمي والتجارة الإلكترونية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40680" y="33101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حلول رقمية للجنوب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3611880"/>
            <a:ext cx="3840480" cy="18288"/>
          </a:xfrm>
          <a:prstGeom prst="rect">
            <a:avLst/>
          </a:prstGeom>
          <a:solidFill>
            <a:srgbClr val="C8922A">
              <a:alpha val="30000"/>
            </a:srgbClr>
          </a:solidFill>
          <a:ln w="12700">
            <a:solidFill>
              <a:srgbClr val="C8922A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67588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Business، تسويق رقمي محمول، سد فجوة العزلة الجغرافية بالقصور الجنوبية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736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Tech Incubator  |  البرامج القطاعية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نموذج مرافقة حاملي المشاريع — Incubation Funnel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229600" cy="804672"/>
          </a:xfrm>
          <a:prstGeom prst="rect">
            <a:avLst/>
          </a:prstGeom>
          <a:solidFill>
            <a:srgbClr val="1A5276">
              <a:alpha val="90000"/>
            </a:srgbClr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188720"/>
            <a:ext cx="438912" cy="438912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0700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06070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التحسيس والتعبئة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0" y="106070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(شهر واحد)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140817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حملات حشد محلية عبر الإذاعات، الجمعيات والقنوات الرقمية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965960"/>
            <a:ext cx="7315200" cy="804672"/>
          </a:xfrm>
          <a:prstGeom prst="rect">
            <a:avLst/>
          </a:prstGeom>
          <a:solidFill>
            <a:srgbClr val="1A6B3C">
              <a:alpha val="90000"/>
            </a:srgbClr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2148840"/>
            <a:ext cx="438912" cy="438912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16712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89888" y="202082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قبل الاحتضان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202082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(1-2 شهر)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89888" y="236829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التحقق من الجدوى الفنية والتجارية الميدانية وبناء قيمة مضافة واقعية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88720" y="2926080"/>
            <a:ext cx="6400800" cy="804672"/>
          </a:xfrm>
          <a:prstGeom prst="rect">
            <a:avLst/>
          </a:prstGeom>
          <a:solidFill>
            <a:srgbClr val="C8922A">
              <a:alpha val="85000"/>
            </a:srgbClr>
          </a:solidFill>
          <a:ln w="19050">
            <a:solidFill>
              <a:srgbClr val="C892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98448" y="3108960"/>
            <a:ext cx="438912" cy="43891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312724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47088" y="298094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الاحتضان الفعلي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98094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(4-6 أشهر)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47088" y="332841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مرافقة قانونية ومالية لبناء MVP وتأسيس الكيان القانوني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45920" y="3886200"/>
            <a:ext cx="5486400" cy="804672"/>
          </a:xfrm>
          <a:prstGeom prst="rect">
            <a:avLst/>
          </a:prstGeom>
          <a:solidFill>
            <a:srgbClr val="922B21">
              <a:alpha val="90000"/>
            </a:srgbClr>
          </a:solidFill>
          <a:ln w="19050">
            <a:solidFill>
              <a:srgbClr val="922B2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55648" y="4069080"/>
            <a:ext cx="438912" cy="438912"/>
          </a:xfrm>
          <a:prstGeom prst="ellipse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55648" y="408736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304288" y="39410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التسريع والولوج للأسواق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0" y="394106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أشهر)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04288" y="428853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تشبيك وطني، صالونات، ملفات استثمار للتمويل البنكي والمؤسساتي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36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Tech Incubator  |  Incubation Funnel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القدرة الاستيعابية والجاهزية اللوجستية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2331720"/>
        </p:xfrm>
        <a:graphic>
          <a:graphicData uri="http://schemas.openxmlformats.org/drawingml/2006/table">
            <a:tbl>
              <a:tblPr/>
              <a:tblGrid>
                <a:gridCol w="3657600"/>
                <a:gridCol w="2011680"/>
                <a:gridCol w="29260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التجهيزات والدور الوظيفي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الطاقة اليومية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المرفق / الفضاء التقني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إنترنت عالي التدفق، فضاءات مرنة للتواصل الريادي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10-15 مستفيداً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Coworking 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مخصصة للمشاريع ببالغة مراحل التأسيس المتقدمة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مكتبان مستقلان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مكاتب الشركات الناشئة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أنظمة عرض ومرئي رقمي، عن بُعد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15-20 مقعداً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قاعة التدريب والاجتماعات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اختبار النماذج الإلكترونية والميكانيكية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مستخدمين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AgriTech FabLab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i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طاقة استقبال متزامنة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20-25 مستفيداً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C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إجمالي الطاقة الفيزيائية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520440"/>
            <a:ext cx="8595360" cy="1051560"/>
          </a:xfrm>
          <a:prstGeom prst="rect">
            <a:avLst/>
          </a:prstGeom>
          <a:solidFill>
            <a:srgbClr val="1A6B3C">
              <a:alpha val="12000"/>
            </a:srgbClr>
          </a:solidFill>
          <a:ln w="1905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3520440"/>
            <a:ext cx="64008" cy="10515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54787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المرافقة الهجينة والرقمية عن بُعد — Remote Incubation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89534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ترفع القدرة الاستيعابية من 20 مستفيداً فيزيائياً إلى أزيد من 60 مشروعاً بالتوازي عبر المنصات الافتراضية — تلغي عائق المسافات الجغرافية وتضمن السورسينغ الشامل للولايات الخمس.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736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Tech Incubator  |  البنية التحتية والقدرة الاستيعابية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الهيكل التنظيمي البشري — فريق العمل المركزي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743200" cy="64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70432"/>
            <a:ext cx="502920" cy="50292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070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11155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غزالي عبد الصمد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المدير العام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2514600" cy="18288"/>
          </a:xfrm>
          <a:prstGeom prst="rect">
            <a:avLst/>
          </a:prstGeom>
          <a:solidFill>
            <a:srgbClr val="0D2137">
              <a:alpha val="25000"/>
            </a:srgbClr>
          </a:solidFill>
          <a:ln w="12700">
            <a:solidFill>
              <a:srgbClr val="0D2137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116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خبير تسيير وإدارة المؤسسات اللوجستية والتخطيط الاستراتيجي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100584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005840"/>
            <a:ext cx="2743200" cy="640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0128" y="1170432"/>
            <a:ext cx="502920" cy="50292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2070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22776" y="11155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عبد الحميد صغيرا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16459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المؤسس والمدير التنفيذي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10128" y="1965960"/>
            <a:ext cx="2514600" cy="18288"/>
          </a:xfrm>
          <a:prstGeom prst="rect">
            <a:avLst/>
          </a:prstGeom>
          <a:solidFill>
            <a:srgbClr val="1A6B3C">
              <a:alpha val="25000"/>
            </a:srgbClr>
          </a:solidFill>
          <a:ln w="12700">
            <a:solidFill>
              <a:srgbClr val="1A6B3C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20116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مهندس دولة — إعلام آلي وذكاء اصطناعي | خبير GERME/ILO | +10 سنوات خبرة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17336" y="100584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17336" y="1005840"/>
            <a:ext cx="2743200" cy="64008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54496" y="1170432"/>
            <a:ext cx="502920" cy="50292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12070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67144" y="11155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إطار متعاقد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54496" y="16459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مسؤول برامج الاحتضان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54496" y="1965960"/>
            <a:ext cx="2514600" cy="18288"/>
          </a:xfrm>
          <a:prstGeom prst="rect">
            <a:avLst/>
          </a:prstGeom>
          <a:solidFill>
            <a:srgbClr val="C8922A">
              <a:alpha val="25000"/>
            </a:srgbClr>
          </a:solidFill>
          <a:ln w="12700">
            <a:solidFill>
              <a:srgbClr val="C8922A">
                <a:alpha val="2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20116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ماستر في العلوم الفلاحية والبيئة الصحراوية — مواءمة المشاريع بيئياً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288036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6C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2880360"/>
            <a:ext cx="2743200" cy="640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044952"/>
            <a:ext cx="502920" cy="50292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0815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إم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78408" y="2990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إطار متعاقد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35204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مستشار مالي وقانوني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840480"/>
            <a:ext cx="2514600" cy="18288"/>
          </a:xfrm>
          <a:prstGeom prst="rect">
            <a:avLst/>
          </a:prstGeom>
          <a:solidFill>
            <a:srgbClr val="6C3483">
              <a:alpha val="25000"/>
            </a:srgbClr>
          </a:solidFill>
          <a:ln w="12700">
            <a:solidFill>
              <a:srgbClr val="6C3483">
                <a:alpha val="2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8862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متخصص في الإدارة المالية، الضرائب، هندسة ملفات التمويل البنكي والمصغر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172968" y="288036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72968" y="2880360"/>
            <a:ext cx="27432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10128" y="3044952"/>
            <a:ext cx="502920" cy="50292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0128" y="30815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إم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922776" y="2990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إطار متعاقد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310128" y="35204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مسؤول الابتكار والتقنيات (FabLab)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310128" y="3840480"/>
            <a:ext cx="2514600" cy="18288"/>
          </a:xfrm>
          <a:prstGeom prst="rect">
            <a:avLst/>
          </a:prstGeom>
          <a:solidFill>
            <a:srgbClr val="1A5276">
              <a:alpha val="25000"/>
            </a:srgbClr>
          </a:solidFill>
          <a:ln w="12700">
            <a:solidFill>
              <a:srgbClr val="1A5276">
                <a:alpha val="2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10128" y="38862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مهندس إلكترونيك، طاقات متجددة وأنظمة إنترنت الأشياء (IoT)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736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Tech Incubator  |  فريق العمل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مؤشرات الأداء والقدرة التشغيلية — 2024 → 2027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87552"/>
          <a:ext cx="8595360" cy="3657600"/>
        </p:xfrm>
        <a:graphic>
          <a:graphicData uri="http://schemas.openxmlformats.org/drawingml/2006/table">
            <a:tbl>
              <a:tblPr/>
              <a:tblGrid>
                <a:gridCol w="2148840"/>
                <a:gridCol w="2377440"/>
                <a:gridCol w="1920240"/>
                <a:gridCol w="214884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مستهدف 2027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مستهدف 2026 (GGJAP)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حصيلة 2024-2025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مؤشر الأداء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طلب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طلب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طلب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إجمالي طلبات الترشح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مشروع أخضر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مشروع أخضر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مشاريع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المشاريع المحتضنة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شركة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شركة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مؤسسة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الشركات المؤسسة قانوناً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نموذج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نموذج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نموذج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النماذج الأولية (MVP)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منصب دائم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منصب دائم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مناصب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C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مناصب الشغل المستحدثة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امرأة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امرأة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نساء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تمكين المرأة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شاباً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شاباً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شباب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إدماج الشباب (&lt; 35 سنة)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736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Tech Incubator  |  KPIs &amp; 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مسار النمو والأثر التشغيلي (2024–2027)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05840"/>
          <a:ext cx="54864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80760" y="1005840"/>
            <a:ext cx="27889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80760" y="1005840"/>
            <a:ext cx="54864" cy="10515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99632" y="10241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199632" y="1572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منصب شغل دائم بحلول 2027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80760" y="2240280"/>
            <a:ext cx="27889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80760" y="2240280"/>
            <a:ext cx="54864" cy="10515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99632" y="22585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6199632" y="28072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مؤسسة خضراء مستهدفة بـ GGJAP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80760" y="3474720"/>
            <a:ext cx="27889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80760" y="3474720"/>
            <a:ext cx="54864" cy="10515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99632" y="34930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6199632" y="40416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ولايات مغطاة بالجنوب الكبير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4736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Tech Incubator  |  الأثر التشغيلي والمؤشرات الكمية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C8922A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شبكة الشراكات والمنظومة المؤسسية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4160520" cy="1691640"/>
          </a:xfrm>
          <a:prstGeom prst="rect">
            <a:avLst/>
          </a:prstGeom>
          <a:solidFill>
            <a:srgbClr val="0D2137">
              <a:alpha val="8000"/>
            </a:srgbClr>
          </a:solidFill>
          <a:ln w="1905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24128"/>
            <a:ext cx="4160520" cy="64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24128"/>
            <a:ext cx="54864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338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التكنولوجيا والذكاء الاصطناعي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3840480" cy="18288"/>
          </a:xfrm>
          <a:prstGeom prst="rect">
            <a:avLst/>
          </a:prstGeom>
          <a:solidFill>
            <a:srgbClr val="0D2137">
              <a:alpha val="35000"/>
            </a:srgbClr>
          </a:solidFill>
          <a:ln w="12700">
            <a:solidFill>
              <a:srgbClr val="0D2137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1848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شبكة دكاترة ومهندسين — دمج البرمجيات المتقدمة في النظم الفلاحية والخدمية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24128"/>
            <a:ext cx="4160520" cy="1691640"/>
          </a:xfrm>
          <a:prstGeom prst="rect">
            <a:avLst/>
          </a:prstGeom>
          <a:solidFill>
            <a:srgbClr val="1A6B3C">
              <a:alpha val="8000"/>
            </a:srgbClr>
          </a:solidFill>
          <a:ln w="1905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24128"/>
            <a:ext cx="4160520" cy="640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24128"/>
            <a:ext cx="54864" cy="16916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1338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الفلاحة والبيئة الصحراوية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1536192"/>
            <a:ext cx="3840480" cy="18288"/>
          </a:xfrm>
          <a:prstGeom prst="rect">
            <a:avLst/>
          </a:prstGeom>
          <a:solidFill>
            <a:srgbClr val="1A6B3C">
              <a:alpha val="35000"/>
            </a:srgbClr>
          </a:solidFill>
          <a:ln w="12700">
            <a:solidFill>
              <a:srgbClr val="1A6B3C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61848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INRAA  •  ITGC — المصادقة العلمية على المشاريع والبحث التطبيقي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2944368"/>
            <a:ext cx="4160520" cy="1691640"/>
          </a:xfrm>
          <a:prstGeom prst="rect">
            <a:avLst/>
          </a:prstGeom>
          <a:solidFill>
            <a:srgbClr val="C8922A">
              <a:alpha val="8000"/>
            </a:srgbClr>
          </a:solidFill>
          <a:ln w="1905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944368"/>
            <a:ext cx="4160520" cy="64008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2944368"/>
            <a:ext cx="54864" cy="169164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540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التمويل والاستثمار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456432"/>
            <a:ext cx="3840480" cy="18288"/>
          </a:xfrm>
          <a:prstGeom prst="rect">
            <a:avLst/>
          </a:prstGeom>
          <a:solidFill>
            <a:srgbClr val="C8922A">
              <a:alpha val="35000"/>
            </a:srgbClr>
          </a:solidFill>
          <a:ln w="12700">
            <a:solidFill>
              <a:srgbClr val="C8922A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3872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BADR (قروض)  •  NESDA  •  ANGEM — دعم الدولة وهندسة ملفات التمويل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944368"/>
            <a:ext cx="4160520" cy="1691640"/>
          </a:xfrm>
          <a:prstGeom prst="rect">
            <a:avLst/>
          </a:prstGeom>
          <a:solidFill>
            <a:srgbClr val="6C3483">
              <a:alpha val="8000"/>
            </a:srgbClr>
          </a:solidFill>
          <a:ln w="19050">
            <a:solidFill>
              <a:srgbClr val="6C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944368"/>
            <a:ext cx="4160520" cy="640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944368"/>
            <a:ext cx="54864" cy="16916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0540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القطاع الجامعي والبحثي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3456432"/>
            <a:ext cx="3840480" cy="18288"/>
          </a:xfrm>
          <a:prstGeom prst="rect">
            <a:avLst/>
          </a:prstGeom>
          <a:solidFill>
            <a:srgbClr val="6C3483">
              <a:alpha val="35000"/>
            </a:srgbClr>
          </a:solidFill>
          <a:ln w="12700">
            <a:solidFill>
              <a:srgbClr val="6C3483">
                <a:alpha val="3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53872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جامعة أدرار والمراكز البحثية — توطين مذكرات التخرج ومشاريع ناشئة خضراء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36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Tech Incubator  |  شبكة الشراكات والمنظومة المؤسسية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التوافق المطلق مع برنامج GGJAP — عوامل النجاح المشترك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53312"/>
            <a:ext cx="457200" cy="45720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1078992"/>
            <a:ext cx="7818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التوطين الجغرافي المعمق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508760"/>
            <a:ext cx="7818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تواجدنا في قلب الجنوب يتيح رصد التحديات المقاولاتية بدقة وتكييف برامج التوجيه وفق الخصائص البيئية والمجتمعية التي تجهلها حاضنات الشمال.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304288"/>
            <a:ext cx="859536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651760"/>
            <a:ext cx="457200" cy="45720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6700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2377440"/>
            <a:ext cx="7818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التركيز على الكثافة العمالية والاستدامة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2807208"/>
            <a:ext cx="7818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نركز على الفلاحة المستدامة والحرف — الفئات الأكثر قدرة على خلق مناصب الشغل المكثفة وتثبيت الساكنة المحلية عبر التنمية الاقتصادية الدائرية الخضراء.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602736"/>
            <a:ext cx="859536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950208"/>
            <a:ext cx="457200" cy="45720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9684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3675888"/>
            <a:ext cx="7818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الاستعداد الفوري لنقل المعرفة (ToT)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4105656"/>
            <a:ext cx="7818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مشاركة طاقمنا في دورات تدريب المدربين تضمن هيكلاً احترافياً معتمداً دولياً يكفل استمرارية مخرجات البرنامج حتى ديسمبر 2027 وما بعده.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736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Tech Incubator  |  التوافق مع GGJAP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8979408" cy="54864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2743200"/>
            <a:ext cx="2743200" cy="2743200"/>
          </a:xfrm>
          <a:prstGeom prst="ellipse">
            <a:avLst/>
          </a:prstGeom>
          <a:solidFill>
            <a:srgbClr val="1A6B3C">
              <a:alpha val="18000"/>
            </a:srgbClr>
          </a:solidFill>
          <a:ln w="12700">
            <a:solidFill>
              <a:srgbClr val="1A6B3C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جاهزون للبدء الفوري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0" y="1481328"/>
            <a:ext cx="3657600" cy="45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E8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الملف التقني ورسالة الالتزام مكتملان</a:t>
            </a:r>
            <a:endParaRPr lang="en-US" sz="1800" dirty="0"/>
          </a:p>
          <a:p>
            <a:pPr rtl="1" algn="ctr" indent="0" marL="0">
              <a:buNone/>
            </a:pPr>
            <a:r>
              <a:rPr lang="en-US" sz="1800" dirty="0">
                <a:solidFill>
                  <a:srgbClr val="E8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وجاهزان للتوقيع وبدء مسار الإيداع الفوري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عبد الحميد صغيرا — المؤسس والمدير التنفيذي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Tech Incubator  |  تيميمون، الجزائر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البرنامج: GGJAP 2026–2027  |  5 ولايات — الجنوب الكبير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4160520"/>
            <a:ext cx="4572000" cy="6858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0" y="41788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نتطلع إلى شراكة استراتيجية ناجحة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Oasis Tech Incubator - GGJAP</dc:title>
  <dc:subject>PptxGenJS Presentation</dc:subject>
  <dc:creator>PptxGenJS</dc:creator>
  <cp:lastModifiedBy>PptxGenJS</cp:lastModifiedBy>
  <cp:revision>1</cp:revision>
  <dcterms:created xsi:type="dcterms:W3CDTF">2026-06-08T19:40:27Z</dcterms:created>
  <dcterms:modified xsi:type="dcterms:W3CDTF">2026-06-08T19:40:27Z</dcterms:modified>
</cp:coreProperties>
</file>